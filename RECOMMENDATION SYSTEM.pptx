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7"/>
  </p:notesMasterIdLst>
  <p:sldIdLst>
    <p:sldId id="256" r:id="rId2"/>
    <p:sldId id="271" r:id="rId3"/>
    <p:sldId id="257" r:id="rId4"/>
    <p:sldId id="269" r:id="rId5"/>
    <p:sldId id="258" r:id="rId6"/>
    <p:sldId id="259" r:id="rId7"/>
    <p:sldId id="260" r:id="rId8"/>
    <p:sldId id="262" r:id="rId9"/>
    <p:sldId id="261" r:id="rId10"/>
    <p:sldId id="263" r:id="rId11"/>
    <p:sldId id="264" r:id="rId12"/>
    <p:sldId id="267" r:id="rId13"/>
    <p:sldId id="266" r:id="rId14"/>
    <p:sldId id="27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8376B-0888-412E-87EE-765992E4BA6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75F3F-6A1F-4C20-9DAC-5D197D185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33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75F3F-6A1F-4C20-9DAC-5D197D185A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818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2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6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0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97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43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87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08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06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9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0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8005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91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1143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94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08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4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F99B5-63B4-452A-91B1-6A96DBD65DC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6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55B84-9421-34FC-765B-25091665B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316044"/>
            <a:ext cx="7766936" cy="1646302"/>
          </a:xfrm>
        </p:spPr>
        <p:txBody>
          <a:bodyPr/>
          <a:lstStyle/>
          <a:p>
            <a:pPr algn="ctr"/>
            <a:r>
              <a:rPr lang="en-US" dirty="0"/>
              <a:t>RECOMMENDATION SYSTEM</a:t>
            </a:r>
          </a:p>
        </p:txBody>
      </p:sp>
    </p:spTree>
    <p:extLst>
      <p:ext uri="{BB962C8B-B14F-4D97-AF65-F5344CB8AC3E}">
        <p14:creationId xmlns:p14="http://schemas.microsoft.com/office/powerpoint/2010/main" val="2080341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F76A-E2F8-8618-4F37-1E5827241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50607"/>
            <a:ext cx="8596668" cy="1320800"/>
          </a:xfrm>
        </p:spPr>
        <p:txBody>
          <a:bodyPr/>
          <a:lstStyle/>
          <a:p>
            <a:r>
              <a:rPr lang="en-US" dirty="0"/>
              <a:t>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97274-B27B-FBE8-DF2D-56D15EA4D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5350"/>
            <a:ext cx="8596668" cy="3880773"/>
          </a:xfrm>
        </p:spPr>
        <p:txBody>
          <a:bodyPr/>
          <a:lstStyle/>
          <a:p>
            <a:r>
              <a:rPr lang="en-US" dirty="0"/>
              <a:t>Analyze the Dataset</a:t>
            </a:r>
          </a:p>
          <a:p>
            <a:r>
              <a:rPr lang="en-US" dirty="0"/>
              <a:t>Perform EDA</a:t>
            </a:r>
          </a:p>
          <a:p>
            <a:r>
              <a:rPr lang="en-US" dirty="0"/>
              <a:t>Apply transformations(Eg: nulls, outliers, standardization)</a:t>
            </a:r>
          </a:p>
          <a:p>
            <a:r>
              <a:rPr lang="en-US" dirty="0"/>
              <a:t>Develop a Recommendation System</a:t>
            </a:r>
          </a:p>
          <a:p>
            <a:r>
              <a:rPr lang="en-US" dirty="0"/>
              <a:t>Evaluate the model</a:t>
            </a:r>
          </a:p>
          <a:p>
            <a:r>
              <a:rPr lang="en-US" dirty="0"/>
              <a:t>Deploy the developed model</a:t>
            </a:r>
          </a:p>
        </p:txBody>
      </p:sp>
    </p:spTree>
    <p:extLst>
      <p:ext uri="{BB962C8B-B14F-4D97-AF65-F5344CB8AC3E}">
        <p14:creationId xmlns:p14="http://schemas.microsoft.com/office/powerpoint/2010/main" val="1027089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05D27-D470-8427-1ABF-2A95B5AD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AF0BB-6CB6-9520-A4FE-032C21290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</a:t>
            </a:r>
          </a:p>
          <a:p>
            <a:pPr marL="0" indent="0">
              <a:buNone/>
            </a:pPr>
            <a:r>
              <a:rPr lang="en-US" dirty="0"/>
              <a:t>		rows = 1,00,000 AND columns = 14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dataset is about educational </a:t>
            </a:r>
            <a:r>
              <a:rPr lang="en-US" b="1" dirty="0"/>
              <a:t>online courses.</a:t>
            </a:r>
          </a:p>
          <a:p>
            <a:r>
              <a:rPr lang="en-US" dirty="0"/>
              <a:t>The dataset includes course ratings, instructor information, previous learning history, study material availability, and certification offerings, making it suitable for recommendation models.</a:t>
            </a:r>
          </a:p>
          <a:p>
            <a:r>
              <a:rPr lang="en-US" dirty="0"/>
              <a:t>We will be developing a Recommendation System based on this dataset.</a:t>
            </a:r>
          </a:p>
        </p:txBody>
      </p:sp>
    </p:spTree>
    <p:extLst>
      <p:ext uri="{BB962C8B-B14F-4D97-AF65-F5344CB8AC3E}">
        <p14:creationId xmlns:p14="http://schemas.microsoft.com/office/powerpoint/2010/main" val="2471976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C391-D046-9628-1CD4-2007FEE36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134" y="2182760"/>
            <a:ext cx="8596668" cy="3392129"/>
          </a:xfrm>
        </p:spPr>
        <p:txBody>
          <a:bodyPr>
            <a:normAutofit/>
          </a:bodyPr>
          <a:lstStyle/>
          <a:p>
            <a:r>
              <a:rPr lang="en-US" sz="11500" dirty="0"/>
              <a:t>EDA</a:t>
            </a:r>
          </a:p>
        </p:txBody>
      </p:sp>
    </p:spTree>
    <p:extLst>
      <p:ext uri="{BB962C8B-B14F-4D97-AF65-F5344CB8AC3E}">
        <p14:creationId xmlns:p14="http://schemas.microsoft.com/office/powerpoint/2010/main" val="339478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E10857-4E2B-9036-AAFE-FBD6286C3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47658E-A797-0D51-30F6-2D61C7DA08D3}"/>
              </a:ext>
            </a:extLst>
          </p:cNvPr>
          <p:cNvSpPr txBox="1"/>
          <p:nvPr/>
        </p:nvSpPr>
        <p:spPr>
          <a:xfrm>
            <a:off x="4906297" y="1720644"/>
            <a:ext cx="69317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you can see here of all the data rows there isn’t a single data entry of all the columns that is NULL.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have three datatypes in the entire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That are Int, Float, Object.</a:t>
            </a:r>
          </a:p>
        </p:txBody>
      </p:sp>
    </p:spTree>
    <p:extLst>
      <p:ext uri="{BB962C8B-B14F-4D97-AF65-F5344CB8AC3E}">
        <p14:creationId xmlns:p14="http://schemas.microsoft.com/office/powerpoint/2010/main" val="3341472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508C857-C747-2E8A-B3BB-06CF6A0320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55760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559F74-EE25-9C79-A611-5EADFDD5B831}"/>
              </a:ext>
            </a:extLst>
          </p:cNvPr>
          <p:cNvSpPr txBox="1"/>
          <p:nvPr/>
        </p:nvSpPr>
        <p:spPr>
          <a:xfrm>
            <a:off x="254000" y="4084320"/>
            <a:ext cx="87376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Distributions:</a:t>
            </a:r>
          </a:p>
          <a:p>
            <a:endParaRPr lang="en-US" dirty="0"/>
          </a:p>
          <a:p>
            <a:r>
              <a:rPr lang="en-US" sz="1600" dirty="0"/>
              <a:t>The above visualization provides us the data distribution of numerical variables.</a:t>
            </a:r>
          </a:p>
          <a:p>
            <a:r>
              <a:rPr lang="en-US" sz="1600" dirty="0"/>
              <a:t>Each Variable Different Distribution like</a:t>
            </a:r>
          </a:p>
          <a:p>
            <a:r>
              <a:rPr lang="en-US" sz="1600" dirty="0"/>
              <a:t>Rating variable  and feedback score have skewed distributions</a:t>
            </a:r>
          </a:p>
          <a:p>
            <a:r>
              <a:rPr lang="en-US" sz="1600" dirty="0"/>
              <a:t>Previous courses taken variable has normal distribution</a:t>
            </a:r>
          </a:p>
          <a:p>
            <a:r>
              <a:rPr lang="en-US" sz="1600" dirty="0"/>
              <a:t>The remaining features have almost uniform distributions</a:t>
            </a:r>
          </a:p>
        </p:txBody>
      </p:sp>
    </p:spTree>
    <p:extLst>
      <p:ext uri="{BB962C8B-B14F-4D97-AF65-F5344CB8AC3E}">
        <p14:creationId xmlns:p14="http://schemas.microsoft.com/office/powerpoint/2010/main" val="3607929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D863A9D-5C69-D675-C507-BC7543AAAE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7718323" cy="5289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1A7459-4037-26D9-28C6-F8B57C36A211}"/>
              </a:ext>
            </a:extLst>
          </p:cNvPr>
          <p:cNvSpPr txBox="1"/>
          <p:nvPr/>
        </p:nvSpPr>
        <p:spPr>
          <a:xfrm>
            <a:off x="304801" y="5171768"/>
            <a:ext cx="84655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above virtualization tells us that there are students who was offered a certification and there are students who didn’t.</a:t>
            </a:r>
          </a:p>
          <a:p>
            <a:r>
              <a:rPr lang="en-US" dirty="0"/>
              <a:t>What we can understand from this is that there may be is some sort of fees that is assigned to the course to get the certification</a:t>
            </a:r>
          </a:p>
          <a:p>
            <a:r>
              <a:rPr lang="en-US" dirty="0"/>
              <a:t>Example: Coursera.</a:t>
            </a:r>
          </a:p>
        </p:txBody>
      </p:sp>
    </p:spTree>
    <p:extLst>
      <p:ext uri="{BB962C8B-B14F-4D97-AF65-F5344CB8AC3E}">
        <p14:creationId xmlns:p14="http://schemas.microsoft.com/office/powerpoint/2010/main" val="260935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C750382-40D0-CBAE-C3C5-6AB36E2170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728155" cy="5139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117957-800E-D4D8-BEFA-0331C68242D0}"/>
              </a:ext>
            </a:extLst>
          </p:cNvPr>
          <p:cNvSpPr txBox="1"/>
          <p:nvPr/>
        </p:nvSpPr>
        <p:spPr>
          <a:xfrm>
            <a:off x="550606" y="5270090"/>
            <a:ext cx="81902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above Virtualization tells us about the difficult level of the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Beginner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Intermediate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Advanced</a:t>
            </a:r>
          </a:p>
        </p:txBody>
      </p:sp>
    </p:spTree>
    <p:extLst>
      <p:ext uri="{BB962C8B-B14F-4D97-AF65-F5344CB8AC3E}">
        <p14:creationId xmlns:p14="http://schemas.microsoft.com/office/powerpoint/2010/main" val="113494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AAFB4-B328-F022-B164-EAAD83138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" y="117988"/>
            <a:ext cx="8949538" cy="811159"/>
          </a:xfrm>
        </p:spPr>
        <p:txBody>
          <a:bodyPr/>
          <a:lstStyle/>
          <a:p>
            <a:r>
              <a:rPr lang="en-US" dirty="0"/>
              <a:t>Correlation Matrix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37DD0E-51B6-4087-E728-B905322B89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06" y="1081549"/>
            <a:ext cx="9448800" cy="4847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96FD3D-5EA6-322A-6FF1-B556AE987484}"/>
              </a:ext>
            </a:extLst>
          </p:cNvPr>
          <p:cNvSpPr txBox="1"/>
          <p:nvPr/>
        </p:nvSpPr>
        <p:spPr>
          <a:xfrm>
            <a:off x="589935" y="6272981"/>
            <a:ext cx="8308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virtualization tells us that there is Zero correlation b/w the features.</a:t>
            </a:r>
          </a:p>
        </p:txBody>
      </p:sp>
    </p:spTree>
    <p:extLst>
      <p:ext uri="{BB962C8B-B14F-4D97-AF65-F5344CB8AC3E}">
        <p14:creationId xmlns:p14="http://schemas.microsoft.com/office/powerpoint/2010/main" val="244147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02F45-3298-CB71-80C3-86803F95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49265" cy="707923"/>
          </a:xfrm>
        </p:spPr>
        <p:txBody>
          <a:bodyPr/>
          <a:lstStyle/>
          <a:p>
            <a:r>
              <a:rPr lang="en-US" dirty="0"/>
              <a:t>Model Building: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6D236-2B0B-1D2C-7287-0A59FF3C4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83" y="628672"/>
            <a:ext cx="9219719" cy="60081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Recommendation System: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recommendation system, also known as a recommender system or recommendation engine, is a type of information filtering system that uses artificial intelligence (AI) and machine learning (ML) algorithms to predict user preferences and suggest relevant items, products, or content.</a:t>
            </a:r>
          </a:p>
          <a:p>
            <a:pPr marL="0" indent="0">
              <a:buNone/>
            </a:pPr>
            <a:r>
              <a:rPr lang="en-US" dirty="0"/>
              <a:t>We have three types of such systems mainly:</a:t>
            </a:r>
          </a:p>
          <a:p>
            <a:pPr marL="0" indent="0">
              <a:buNone/>
            </a:pPr>
            <a:r>
              <a:rPr lang="en-US" dirty="0"/>
              <a:t>1. Content-based filtering(item-based)</a:t>
            </a:r>
          </a:p>
          <a:p>
            <a:pPr marL="0" indent="0">
              <a:buNone/>
            </a:pPr>
            <a:r>
              <a:rPr lang="en-US" dirty="0"/>
              <a:t>2.</a:t>
            </a:r>
            <a:r>
              <a:rPr lang="en-US" b="1" dirty="0"/>
              <a:t> </a:t>
            </a:r>
            <a:r>
              <a:rPr lang="en-US" dirty="0"/>
              <a:t>Collaborative filtering(user-based)</a:t>
            </a:r>
          </a:p>
          <a:p>
            <a:pPr marL="0" indent="0">
              <a:buNone/>
            </a:pPr>
            <a:r>
              <a:rPr lang="en-US" dirty="0"/>
              <a:t>3. Hybrid models</a:t>
            </a:r>
          </a:p>
        </p:txBody>
      </p:sp>
      <p:pic>
        <p:nvPicPr>
          <p:cNvPr id="1026" name="Picture 2" descr="Recommendation system , types of recommendation system">
            <a:extLst>
              <a:ext uri="{FF2B5EF4-FFF2-40B4-BE49-F238E27FC236}">
                <a16:creationId xmlns:a16="http://schemas.microsoft.com/office/drawing/2014/main" id="{9DC6683B-C028-7560-351D-BBE14FC69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5" y="1178049"/>
            <a:ext cx="8167667" cy="2558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433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555708-1EEF-8293-B9E0-BA20FD2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150"/>
            <a:ext cx="8596668" cy="2470405"/>
          </a:xfrm>
        </p:spPr>
        <p:txBody>
          <a:bodyPr/>
          <a:lstStyle/>
          <a:p>
            <a:r>
              <a:rPr lang="en-US" dirty="0"/>
              <a:t>Model Used Collaborative Filtering (Item-Based Recommendation System)</a:t>
            </a:r>
          </a:p>
          <a:p>
            <a:r>
              <a:rPr lang="en-US" dirty="0"/>
              <a:t>Type: Item–Item Collaborative Filtering</a:t>
            </a:r>
          </a:p>
          <a:p>
            <a:r>
              <a:rPr lang="en-US" dirty="0"/>
              <a:t>Core Technique: Cosine Similarity</a:t>
            </a:r>
          </a:p>
          <a:p>
            <a:r>
              <a:rPr lang="en-US" dirty="0"/>
              <a:t>We created a User × Course interaction matrix transpose it to Course × User </a:t>
            </a:r>
          </a:p>
          <a:p>
            <a:r>
              <a:rPr lang="en-US" dirty="0"/>
              <a:t>Compute cosine similarity between courses </a:t>
            </a:r>
          </a:p>
          <a:p>
            <a:r>
              <a:rPr lang="en-US" dirty="0"/>
              <a:t>Recommend courses similar to those a user has interacted with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883FC5-37ED-FEAC-B0E8-CB1A116C5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49" y="2615381"/>
            <a:ext cx="7621064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047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EA49-2DCA-77E6-274C-CFD2D5348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0" y="556690"/>
            <a:ext cx="8596668" cy="796413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Evaluation Metric Used Hit Rate @ K (Hit-Rate@10)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This is a standard recommender-system evaluation metric.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D89C1A-A101-01E1-82A1-48E1787D8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406013"/>
            <a:ext cx="7473608" cy="38814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FC204F-8E0F-7598-5D71-F0C5424B5536}"/>
              </a:ext>
            </a:extLst>
          </p:cNvPr>
          <p:cNvSpPr txBox="1"/>
          <p:nvPr/>
        </p:nvSpPr>
        <p:spPr>
          <a:xfrm>
            <a:off x="677334" y="5483698"/>
            <a:ext cx="7473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got</a:t>
            </a:r>
          </a:p>
          <a:p>
            <a:r>
              <a:rPr lang="en-US" dirty="0"/>
              <a:t>Hit-Rate @ 10: 0.42</a:t>
            </a:r>
          </a:p>
          <a:p>
            <a:r>
              <a:rPr lang="en-US" dirty="0"/>
              <a:t>Means 42% of users received at least one relevant recommendation in top-10.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F9C01-0515-93EC-0515-DE320ACDFD7C}"/>
              </a:ext>
            </a:extLst>
          </p:cNvPr>
          <p:cNvSpPr txBox="1"/>
          <p:nvPr/>
        </p:nvSpPr>
        <p:spPr>
          <a:xfrm>
            <a:off x="0" y="-80994"/>
            <a:ext cx="87419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EVALUATION METRIC:</a:t>
            </a:r>
          </a:p>
        </p:txBody>
      </p:sp>
    </p:spTree>
    <p:extLst>
      <p:ext uri="{BB962C8B-B14F-4D97-AF65-F5344CB8AC3E}">
        <p14:creationId xmlns:p14="http://schemas.microsoft.com/office/powerpoint/2010/main" val="688815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9F9C8-CA2A-D3B6-DECC-71C58250C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9768"/>
          </a:xfrm>
        </p:spPr>
        <p:txBody>
          <a:bodyPr>
            <a:normAutofit fontScale="90000"/>
          </a:bodyPr>
          <a:lstStyle/>
          <a:p>
            <a:r>
              <a:rPr lang="en-US" dirty="0"/>
              <a:t>Deployment: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2FE0A8-F7A8-DB1A-7B75-9C72002ED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4" y="599768"/>
            <a:ext cx="8746917" cy="4119716"/>
          </a:xfrm>
        </p:spPr>
      </p:pic>
    </p:spTree>
    <p:extLst>
      <p:ext uri="{BB962C8B-B14F-4D97-AF65-F5344CB8AC3E}">
        <p14:creationId xmlns:p14="http://schemas.microsoft.com/office/powerpoint/2010/main" val="3295433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976F52-4F90-A6B3-F15B-04F2CA191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44" y="305508"/>
            <a:ext cx="9420275" cy="4690471"/>
          </a:xfrm>
        </p:spPr>
      </p:pic>
    </p:spTree>
    <p:extLst>
      <p:ext uri="{BB962C8B-B14F-4D97-AF65-F5344CB8AC3E}">
        <p14:creationId xmlns:p14="http://schemas.microsoft.com/office/powerpoint/2010/main" val="776470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24F1C-DCCC-3AF4-328E-8D734B8A4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554" y="2595716"/>
            <a:ext cx="5574891" cy="3746090"/>
          </a:xfrm>
        </p:spPr>
        <p:txBody>
          <a:bodyPr>
            <a:normAutofit/>
          </a:bodyPr>
          <a:lstStyle/>
          <a:p>
            <a:r>
              <a:rPr lang="en-US" sz="96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45376294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159</TotalTime>
  <Words>440</Words>
  <Application>Microsoft Office PowerPoint</Application>
  <PresentationFormat>Widescreen</PresentationFormat>
  <Paragraphs>64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Trebuchet MS</vt:lpstr>
      <vt:lpstr>Wingdings 3</vt:lpstr>
      <vt:lpstr>Facet</vt:lpstr>
      <vt:lpstr>RECOMMENDATION SYSTEM</vt:lpstr>
      <vt:lpstr>Objectives:</vt:lpstr>
      <vt:lpstr>DATA OVERVIEW</vt:lpstr>
      <vt:lpstr>EDA</vt:lpstr>
      <vt:lpstr>PowerPoint Presentation</vt:lpstr>
      <vt:lpstr>PowerPoint Presentation</vt:lpstr>
      <vt:lpstr>PowerPoint Presentation</vt:lpstr>
      <vt:lpstr>PowerPoint Presentation</vt:lpstr>
      <vt:lpstr>Correlation Matrix</vt:lpstr>
      <vt:lpstr>Model Building:</vt:lpstr>
      <vt:lpstr>PowerPoint Presentation</vt:lpstr>
      <vt:lpstr>Evaluation Metric Used Hit Rate @ K (Hit-Rate@10) This is a standard recommender-system evaluation metric.</vt:lpstr>
      <vt:lpstr>Deployment:</vt:lpstr>
      <vt:lpstr>PowerPoint Presentation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KM Reddy</dc:creator>
  <cp:lastModifiedBy>KM Reddy</cp:lastModifiedBy>
  <cp:revision>9</cp:revision>
  <dcterms:created xsi:type="dcterms:W3CDTF">2025-12-12T11:25:17Z</dcterms:created>
  <dcterms:modified xsi:type="dcterms:W3CDTF">2025-12-15T06:26:43Z</dcterms:modified>
</cp:coreProperties>
</file>